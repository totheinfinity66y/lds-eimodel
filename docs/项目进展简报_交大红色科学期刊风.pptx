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713232"/>
            <a:ext cx="73152" cy="987552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" y="704088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项目进展｜HANDCRAFTED E/I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1234440"/>
            <a:ext cx="448056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短简规则
如何变成连续行动？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862072"/>
            <a:ext cx="374903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固定连接的兴奋／抑制网络
从已知 L / D / S 到四次位置读出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986784"/>
            <a:ext cx="3474720" cy="621792"/>
          </a:xfrm>
          <a:prstGeom prst="rect">
            <a:avLst/>
          </a:prstGeom>
          <a:solidFill>
            <a:srgbClr val="F1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59936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L  ·  D  ·  S  →  R₁  →  R₂  →  R₃  →  R₄</a:t>
            </a:r>
          </a:p>
        </p:txBody>
      </p:sp>
      <p:pic>
        <p:nvPicPr>
          <p:cNvPr id="8" name="Picture 7" descr="slide01_cover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92315"/>
            <a:ext cx="6784847" cy="3818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15 分钟项目介绍  ·  概念插画用于解释结构，不代表实测神经影像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01 / 任务定义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六个位置，一条四步序列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02</a:t>
            </a:r>
          </a:p>
        </p:txBody>
      </p:sp>
      <p:pic>
        <p:nvPicPr>
          <p:cNvPr id="6" name="Picture 5" descr="slide02_task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940"/>
            <a:ext cx="5852160" cy="32935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5392" y="1426464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输入只有三个量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84831"/>
            <a:ext cx="4754880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L  起点  0–5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D  方向  +1 / −1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S  中间步长  1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364992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只在 Z₆ 圆环上移动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9672" y="3822191"/>
            <a:ext cx="4937760" cy="1097280"/>
          </a:xfrm>
          <a:prstGeom prst="rect">
            <a:avLst/>
          </a:prstGeom>
          <a:solidFill>
            <a:srgbClr val="F1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3895344"/>
            <a:ext cx="4645152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R₁ = L
R₂ = L + D
R₃ = L + D + DS
R₄ = L + 2D + DS  (mod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19379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例： (0, +1, 2)  →  0 → 1 → 3 →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24 种条件 = 6 个起点 × 2 个方向 × 2 个步长；模型只接收 L / D / S 输入。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02 / 科学问题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输出正确之外，还要追踪信息怎样走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03</a:t>
            </a:r>
          </a:p>
        </p:txBody>
      </p:sp>
      <p:pic>
        <p:nvPicPr>
          <p:cNvPr id="6" name="Picture 5" descr="slide03_ques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713" y="1353312"/>
            <a:ext cx="5767813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4617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保持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7" y="5001768"/>
            <a:ext cx="19202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输入撤除后
起点与规则还在吗？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4617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选择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001768"/>
            <a:ext cx="19202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何时打开
正确通路？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617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继承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5001768"/>
            <a:ext cx="19202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用过的规则
怎样由响应承接？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4617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5001768"/>
            <a:ext cx="192024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每次先读位置
再开始下一步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v1 直接提供已压缩的 L / D / S；本项目聚焦从规则保持到序列展开的机制。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03 / 网络结构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固定连接把规则变成可检查的神经活动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04</a:t>
            </a:r>
          </a:p>
        </p:txBody>
      </p:sp>
      <p:pic>
        <p:nvPicPr>
          <p:cNvPr id="6" name="Picture 5" descr="slide04_network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616907"/>
            <a:ext cx="6748272" cy="3797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8352" y="142646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四个响应阶段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8352" y="192024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R₁ 保持起点
R₂ 形成方向分支
R₃ 形成方向 × 步长分支
R₄ 沿分支继续推进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3840480"/>
            <a:ext cx="4160520" cy="685800"/>
          </a:xfrm>
          <a:prstGeom prst="rect">
            <a:avLst/>
          </a:prstGeom>
          <a:solidFill>
            <a:srgbClr val="F1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7224" y="3913632"/>
            <a:ext cx="3867911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76 E  +  28 I  =  104 个率状态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663440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E 输出兴奋；I 输出抑制。
I→I 也保持抑制符号。权重手工设定，不做训练。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solidFill>
            <a:srgbClr val="F1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5742432"/>
            <a:ext cx="1022299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τᵢ · drᵢ/dt = −rᵢ + φ( ΣE Wᵢⱼrⱼ − ΣI Wᵢⱼrⱼ + Iᵢ − θᵢ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率为归一化无量纲活动；单元数与参数描述本实现，不主张为生物最小结构。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04 / 通路门控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抑制门默认关闭，释放单元打开目标通路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05</a:t>
            </a:r>
          </a:p>
        </p:txBody>
      </p:sp>
      <p:pic>
        <p:nvPicPr>
          <p:cNvPr id="6" name="Picture 5" descr="slide05_disinhibi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" y="1722339"/>
            <a:ext cx="6812280" cy="3833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691640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两层抑制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67712"/>
            <a:ext cx="393192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I_gate 压住下游目标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I_release 抑制 I_gate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目标通路解除抑制后
固定位置投射才得以传递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4498848"/>
            <a:ext cx="4389120" cy="960120"/>
          </a:xfrm>
          <a:prstGeom prst="rect">
            <a:avLst/>
          </a:prstGeom>
          <a:solidFill>
            <a:srgbClr val="F1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5783" y="4572000"/>
            <a:ext cx="4096511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M(E) → I_release ⊣ I_gate ⊣ E_target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557784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规则控制通路；内容来自源位置活动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概念插画辅助解释；I_release 与 I_gate 在模型中都有真实率状态。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05 / 响应状态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已选分支承接规则，后续不重复查询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06</a:t>
            </a:r>
          </a:p>
        </p:txBody>
      </p:sp>
      <p:pic>
        <p:nvPicPr>
          <p:cNvPr id="6" name="Picture 5" descr="slide06_inheritanc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910" y="1353312"/>
            <a:ext cx="5816555" cy="3273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4515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R₁ → R₂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1091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D 选方向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464515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R₂ → R₃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501091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活动继承 D；S 选步长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64515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R₃ → R₄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01091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沿固定分支推进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4718304"/>
            <a:ext cx="2103120" cy="731520"/>
          </a:xfrm>
          <a:prstGeom prst="rect">
            <a:avLst/>
          </a:prstGeom>
          <a:solidFill>
            <a:srgbClr val="F1D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4791456"/>
            <a:ext cx="1810511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1 → 2 → 4 →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rFonts a:latin="Cambria Math" a:ea="Cambria Math"/>
                <a:solidFill>
                  <a:srgbClr val="282927"/>
                </a:solidFill>
                <a:latin typeface="Cambria Math"/>
              </a:rPr>
              <a:t>读 R₁ → 转移 → 读 R₂ → 转移 → 读 R₃ → 转移 → 读 R₄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1/2/4/4 是潜在分支数；clock 只提供阶段时间，不提供位置答案。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06 / V1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定义条件内，24 条完整序列全部正确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07</a:t>
            </a:r>
          </a:p>
        </p:txBody>
      </p:sp>
      <p:pic>
        <p:nvPicPr>
          <p:cNvPr id="6" name="Picture 5" descr="v1_validation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34" y="1371600"/>
            <a:ext cx="7471954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48132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无噪声完整序列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1828800"/>
            <a:ext cx="3200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24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7888" y="27980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每阶段准确率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328416"/>
            <a:ext cx="3154680" cy="16459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3547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自动化测试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3840480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16 / 16 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4526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保存轨迹独立复算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828032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39 实验 · 936 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原始图与复算记录来自 v1 归档；936 个 trial 横跨不同设置与干预，不是独立样本数。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07 / 因果干预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切断时机不同，失效阶段也不同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08</a:t>
            </a:r>
          </a:p>
        </p:txBody>
      </p:sp>
      <p:pic>
        <p:nvPicPr>
          <p:cNvPr id="6" name="Picture 5" descr="slide08_intervention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848" y="1325880"/>
            <a:ext cx="3704398" cy="2084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493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rFonts a:latin="Cambria Math" a:ea="Cambria Math"/>
                <a:solidFill>
                  <a:srgbClr val="B21E35"/>
                </a:solidFill>
                <a:latin typeface="Cambria Math"/>
              </a:rPr>
              <a:t>干预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3493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rFonts a:latin="Cambria Math" a:ea="Cambria Math"/>
                <a:solidFill>
                  <a:srgbClr val="5C5D59"/>
                </a:solidFill>
                <a:latin typeface="Cambria Math"/>
              </a:rPr>
              <a:t>R₁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9512" y="3493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rFonts a:latin="Cambria Math" a:ea="Cambria Math"/>
                <a:solidFill>
                  <a:srgbClr val="5C5D59"/>
                </a:solidFill>
                <a:latin typeface="Cambria Math"/>
              </a:rPr>
              <a:t>R₂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3493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rFonts a:latin="Cambria Math" a:ea="Cambria Math"/>
                <a:solidFill>
                  <a:srgbClr val="5C5D59"/>
                </a:solidFill>
                <a:latin typeface="Cambria Math"/>
              </a:rPr>
              <a:t>R₃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312" y="34930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rFonts a:latin="Cambria Math" a:ea="Cambria Math"/>
                <a:solidFill>
                  <a:srgbClr val="5C5D59"/>
                </a:solidFill>
                <a:latin typeface="Cambria Math"/>
              </a:rPr>
              <a:t>R₄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23317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A  阻断 D release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3904488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385419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22392" y="3904488"/>
            <a:ext cx="1508760" cy="201168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385419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3904488"/>
            <a:ext cx="1508760" cy="201168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385419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3904488"/>
            <a:ext cx="1508760" cy="201168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385419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23317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B  读出 R₂ 后切断 M_D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4334256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4283964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22392" y="4334256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2392" y="4283964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9792" y="4334256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4283964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37192" y="4334256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4283964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27448"/>
            <a:ext cx="23317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C  阻断 S release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4764024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471373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22392" y="4764024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471373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9792" y="4764024"/>
            <a:ext cx="1508760" cy="201168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471373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37192" y="4764024"/>
            <a:ext cx="1508760" cy="201168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37192" y="471373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157216"/>
            <a:ext cx="23317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D  读出 R₃ 后切断 M_D/M_S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4992" y="5193792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992" y="51435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2392" y="5193792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22392" y="51435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9792" y="5193792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51435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37192" y="5193792"/>
            <a:ext cx="1508760" cy="201168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37192" y="51435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rFonts a:latin="Microsoft YaHei" a:ea="Microsoft YaHei"/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65099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A、C：完整序列 0/24     B、D：完整序列 24/24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A–D 均有等剂量随机 lesion 对照（seed 7/11/19）；对照结果不用于普遍显著性推断。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08 / 结果解释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这是一项可检验的机制原型证据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09</a:t>
            </a:r>
          </a:p>
        </p:txBody>
      </p:sp>
      <p:pic>
        <p:nvPicPr>
          <p:cNvPr id="6" name="Picture 5" descr="slide09_evidence_limit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318" y="1335024"/>
            <a:ext cx="3980603" cy="2240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3749039"/>
            <a:ext cx="54864" cy="1627632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785615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结果支持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224528"/>
            <a:ext cx="4526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在当前固定网络与所测条件中，
记忆、去抑制和状态继承
足以生成定义好的四位置序列。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749039"/>
            <a:ext cx="54864" cy="1627632"/>
          </a:xfrm>
          <a:prstGeom prst="rect">
            <a:avLst/>
          </a:prstGeom>
          <a:solidFill>
            <a:srgbClr val="E9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3785615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尚未证明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224528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大脑采用相同结构、连续吸引子、
涌现正交子空间，或普适鲁棒性。
阶段推进目前由外部 clock 控制。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解释范围限于已定义任务、固定拓扑和归档参数。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09 /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rFonts a:latin="Microsoft YaHei" a:ea="Microsoft YaHei"/>
                <a:solidFill>
                  <a:srgbClr val="282927"/>
                </a:solidFill>
                <a:latin typeface="Microsoft YaHei"/>
              </a:rPr>
              <a:t>先测机制边界，再问哪些结构不可少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10</a:t>
            </a:r>
          </a:p>
        </p:txBody>
      </p:sp>
      <p:pic>
        <p:nvPicPr>
          <p:cNvPr id="6" name="Picture 5" descr="slide10_roadma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60" y="1389888"/>
            <a:ext cx="5117919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44398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01  扰动与保持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持续噪声
更长 delay
活动恢复范围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44398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02  必要结构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846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简化单元与通路
联合参数扫描
量化失效边界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44398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rFonts a:latin="Microsoft YaHei" a:ea="Microsoft YaHei"/>
                <a:solidFill>
                  <a:srgbClr val="B21E35"/>
                </a:solidFill>
                <a:latin typeface="Microsoft YaHei"/>
              </a:rPr>
              <a:t>03  自主时序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846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rFonts a:latin="Microsoft YaHei" a:ea="Microsoft YaHei"/>
                <a:solidFill>
                  <a:srgbClr val="5C5D59"/>
                </a:solidFill>
                <a:latin typeface="Microsoft YaHei"/>
              </a:rPr>
              <a:t>内部阶段转换
单独定义新规格
保留信息边界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643737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rFonts a:latin="Microsoft YaHei" a:ea="Microsoft YaHei"/>
                <a:solidFill>
                  <a:srgbClr val="878781"/>
                </a:solidFill>
                <a:latin typeface="Microsoft YaHei"/>
              </a:rPr>
              <a:t>从当前 v1 扩展前，先独立定义实验协议与通过判据；学习 L/D/S 属于新版本任务。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项目进展：Handcrafted E/I Decompression v1</dc:title>
  <dc:subject>面向零背景同学的项目汇报</dc:subject>
  <dc:creator/>
  <cp:keywords>E/I, L/D/S, disinhibition, response-state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