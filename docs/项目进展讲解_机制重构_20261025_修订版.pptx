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5bb2c9dfaf4638" /><Relationship Type="http://schemas.openxmlformats.org/officeDocument/2006/relationships/extended-properties" Target="/docProps/app.xml" Id="R76afd92489694617" /><Relationship Type="http://schemas.openxmlformats.org/officeDocument/2006/relationships/officeDocument" Target="/ppt/presentation.xml" Id="R9b123403d7d44d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d9ec969ac54bc0"/>
  </p:sldMasterIdLst>
  <p:notesMasterIdLst>
    <p:notesMasterId xmlns:r="http://schemas.openxmlformats.org/officeDocument/2006/relationships" r:id="Rdddc3038b4b548b9"/>
  </p:notesMasterIdLst>
  <p:sldIdLst>
    <p:sldId xmlns:r="http://schemas.openxmlformats.org/officeDocument/2006/relationships" id="256" r:id="Ree90638bac4d4932"/>
    <p:sldId xmlns:r="http://schemas.openxmlformats.org/officeDocument/2006/relationships" id="257" r:id="Rdae1f126b580462d"/>
    <p:sldId xmlns:r="http://schemas.openxmlformats.org/officeDocument/2006/relationships" id="258" r:id="Ref0962ed80a44dd2"/>
    <p:sldId xmlns:r="http://schemas.openxmlformats.org/officeDocument/2006/relationships" id="259" r:id="Rec575ad8d071420a"/>
    <p:sldId xmlns:r="http://schemas.openxmlformats.org/officeDocument/2006/relationships" id="260" r:id="R69a92b18af964557"/>
    <p:sldId xmlns:r="http://schemas.openxmlformats.org/officeDocument/2006/relationships" id="261" r:id="R9b628e3b00a84a65"/>
    <p:sldId xmlns:r="http://schemas.openxmlformats.org/officeDocument/2006/relationships" id="262" r:id="R49672fe4914641e4"/>
    <p:sldId xmlns:r="http://schemas.openxmlformats.org/officeDocument/2006/relationships" id="263" r:id="Rc5e94a9a7c844586"/>
    <p:sldId xmlns:r="http://schemas.openxmlformats.org/officeDocument/2006/relationships" id="264" r:id="R29cc32e82870405b"/>
    <p:sldId xmlns:r="http://schemas.openxmlformats.org/officeDocument/2006/relationships" id="265" r:id="R413878b5b2da4d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09cb4331154667" /><Relationship Type="http://schemas.openxmlformats.org/officeDocument/2006/relationships/slideMaster" Target="/ppt/slideMasters/slideMaster1.xml" Id="R58d9ec969ac54bc0" /><Relationship Type="http://schemas.openxmlformats.org/officeDocument/2006/relationships/notesMaster" Target="/ppt/notesMasters/notesMaster1.xml" Id="Rdddc3038b4b548b9" /><Relationship Type="http://schemas.openxmlformats.org/officeDocument/2006/relationships/presProps" Target="/ppt/presProps.xml" Id="R1f4aaac1d72c46d6" /><Relationship Type="http://schemas.openxmlformats.org/officeDocument/2006/relationships/tableStyles" Target="/ppt/tableStyles.xml" Id="Rb6e526df8e3b45bc" /><Relationship Type="http://schemas.openxmlformats.org/officeDocument/2006/relationships/slide" Target="/ppt/slides/slide1.xml" Id="Ree90638bac4d4932" /><Relationship Type="http://schemas.openxmlformats.org/officeDocument/2006/relationships/slide" Target="/ppt/slides/slide2.xml" Id="Rdae1f126b580462d" /><Relationship Type="http://schemas.openxmlformats.org/officeDocument/2006/relationships/slide" Target="/ppt/slides/slide3.xml" Id="Ref0962ed80a44dd2" /><Relationship Type="http://schemas.openxmlformats.org/officeDocument/2006/relationships/slide" Target="/ppt/slides/slide4.xml" Id="Rec575ad8d071420a" /><Relationship Type="http://schemas.openxmlformats.org/officeDocument/2006/relationships/slide" Target="/ppt/slides/slide5.xml" Id="R69a92b18af964557" /><Relationship Type="http://schemas.openxmlformats.org/officeDocument/2006/relationships/slide" Target="/ppt/slides/slide6.xml" Id="R9b628e3b00a84a65" /><Relationship Type="http://schemas.openxmlformats.org/officeDocument/2006/relationships/slide" Target="/ppt/slides/slide7.xml" Id="R49672fe4914641e4" /><Relationship Type="http://schemas.openxmlformats.org/officeDocument/2006/relationships/slide" Target="/ppt/slides/slide8.xml" Id="Rc5e94a9a7c844586" /><Relationship Type="http://schemas.openxmlformats.org/officeDocument/2006/relationships/slide" Target="/ppt/slides/slide9.xml" Id="R29cc32e82870405b" /><Relationship Type="http://schemas.openxmlformats.org/officeDocument/2006/relationships/slide" Target="/ppt/slides/slide10.xml" Id="R413878b5b2da4d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21a882bbe24f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4c04996a344a84" /><Relationship Type="http://schemas.openxmlformats.org/officeDocument/2006/relationships/notesMaster" Target="/ppt/notesMasters/notesMaster1.xml" Id="Rfbdcd5cb7d784a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2bb320edcc48f2" /><Relationship Type="http://schemas.openxmlformats.org/officeDocument/2006/relationships/notesMaster" Target="/ppt/notesMasters/notesMaster1.xml" Id="R7fb56cd4eddf4b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72833d65974285" /><Relationship Type="http://schemas.openxmlformats.org/officeDocument/2006/relationships/notesMaster" Target="/ppt/notesMasters/notesMaster1.xml" Id="R34a222e08ebe48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f911748c3c484d" /><Relationship Type="http://schemas.openxmlformats.org/officeDocument/2006/relationships/notesMaster" Target="/ppt/notesMasters/notesMaster1.xml" Id="R23c4dc78c56a41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546070333641c2" /><Relationship Type="http://schemas.openxmlformats.org/officeDocument/2006/relationships/notesMaster" Target="/ppt/notesMasters/notesMaster1.xml" Id="R0e9f6dd712964a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790aa1fdf44558" /><Relationship Type="http://schemas.openxmlformats.org/officeDocument/2006/relationships/notesMaster" Target="/ppt/notesMasters/notesMaster1.xml" Id="R44884f41636d4b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0ff9a7c65a4f21" /><Relationship Type="http://schemas.openxmlformats.org/officeDocument/2006/relationships/notesMaster" Target="/ppt/notesMasters/notesMaster1.xml" Id="R49e7850762874c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703aef271a4564" /><Relationship Type="http://schemas.openxmlformats.org/officeDocument/2006/relationships/notesMaster" Target="/ppt/notesMasters/notesMaster1.xml" Id="R5006c6f2396d47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3fc08525834461" /><Relationship Type="http://schemas.openxmlformats.org/officeDocument/2006/relationships/notesMaster" Target="/ppt/notesMasters/notesMaster1.xml" Id="R3ed40349571241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cace13b6304a66" /><Relationship Type="http://schemas.openxmlformats.org/officeDocument/2006/relationships/notesMaster" Target="/ppt/notesMasters/notesMaster1.xml" Id="Re399b3f5cda944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开场：本项目关注序列信息怎样被较紧凑地保持，以及任务需要时怎样按顺序恢复。研究目标包括神经表征机制与计算上的精度/资源权衡。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Nassar, Helmers &amp; Frank (2018), Psychological Review, Figure 2: binary encoding model of visual working memory. Panels B/C contrast independent item partitioning with selective partitioning (chunking). This is a conceptual analogy from visual working memory, not the group’s sequence-memory data or a direct explanation of the project’s neural dynamics. The project’s prior non-human-primate sequence paradigm and PFC compression coding are the motivation; full encoding–maintenance–recovery dynamics remain open. Source: https://pmc.ncbi.nlm.nih.gov/articles/PMC6026019/ (doi:10.1037/rev0000101).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用一个不依赖专业背景的流程说明项目问题。输入、保持和恢复是同一条时间轨迹上的不同阶段。序列压缩/解压缩的计算原型是研究工具，不代表大脑一定使用唯一的 L/D/S 编码。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WHAT：解释真实神经数据中的群体状态如何随输入、延迟和响应变化。WHY：通过信息论、最优性和计算效率分析，检验压缩策略在哪些任务条件下值得采用。右侧仅画坐标轴和分析变量，不表示已知的定量曲线。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申请书规划以已有序列工作记忆神经数据为基础，分析单细胞与群体动力学，构建模型并比较行为和群体轨迹，再分析压缩策略的计算原理。本页中央留空，供本组插入真实实验图；当前 prototype 与计划目标分开讲。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按本次项目提纲，low-rank RNN 具备压缩表征能力；本仓库当前主线是固定连接、不训练的 E/I 解压缩原型。仓库 architecture.md 与 handcrafted_ei/artifacts/v1/REPORT.md 证明后者不含 primitive inference，也不做生理数据拟合。本页右侧预留导师绘制的机制图。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本页公式均以 LaTeX 表示：$R_1=L,;R_2=L+D,;R_3=L+D+DS,;R_4=L+2D+DSpmod 6$；$	au_idot r_i=-r_i+phi(sum_{jin E}W_{ij}r_j-sum_{jin I}W_{ij}r_j+I_i-	heta_i)$，$phi(z)=min(1,max(0,z))$。当前模型使用归一化放电率变量，不模拟膜电位。每个单元受兴奋/抑制突触输入、外部 sample/clock/tonic 电流、阈值与泄漏时间常数影响。</a:t>
            </a:r>
          </a:p>
          <a:p xmlns:a="http://schemas.openxmlformats.org/drawingml/2006/main">
            <a:r>
              <a:t>文献图参考 Yang, Murray &amp; Wang (2016), Fig. 1, “A dendritic disinhibitory circuit mechanism for pathway-specific gating”: https://pmc.ncbi.nlm.nih.gov/articles/PMC5034308/ 。左侧是该生物学 motif 的 AI 概念重绘；右侧是项目 rate-network 中的抽象门控，二者的神经元类型和机制不应混同。项目模型方程与边界见 architecture.md 第 3–5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handcrafted_ei/artifacts/v1/REPORT.md：无噪声 24/24 完整四位置序列正确，各 stage 24/24；测试 16/16；39 项归档实验共 936 个 trial 重新计算并 PASS。工程结果不等同于从观察学习 L/D/S、拟合真实神经数据或发现生物学回路。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可比较三种层级：专属群体与固定子空间；部分重叠、但保持位置区分的混合表征；以及将去抑制作为选择性路由机制。前额叶序列研究报告的重叠/共享表征，与 Yang et al. (2016) 的树突去抑制路径门控是不同证据线。当前仓库的固定 E/I response branches 也不证明生物 overlap 细胞由该机制路由。文献参考：Chen et al. 2024 https://doi.org/10.1016/j.neuron.2024.07.024；Flexible Use of Limited Resources... 2025 https://www.nature.com/articles/s41467-025-65380-0；Yang et al. 2016 https://pmc.ncbi.nlm.nih.gov/articles/PMC5034308/。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后续按申请书推进：先解析真实神经数据中的压缩/解压缩轨迹，再构建并迭代能够比较行为和群体动力学的模型，最后评估精度、资源与干扰权衡。当前 v1 不含训练、全链路拟合或最优性结论；相应扩展需独立规格和验收标准。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cc35a33238400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7c04ee4c124ae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f738ec7d244d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2936771f734d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148b9e590344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10f31ed0fa49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02B4ED-8E05-4834-9C4E-48820FF7EA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275188-F636-41D7-A787-45F98C2B1D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AA75261-E495-48A7-BCB3-967B89D8E4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A9D67C-F231-45AE-8206-93C04E9966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3A99EA5-77CE-4EC9-A937-E77E551216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E1B38A0-6E40-4FAB-83B2-33E6B6CA9F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28987A-2641-498B-A487-0B8D75EA52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8761E6D-BCF8-4212-9789-B7CB3CAD86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0FC23E-174F-403C-B898-186234CF22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B28AC4-51A7-471E-BF74-49E8FC7598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039a23b4bc438b" /><Relationship Type="http://schemas.openxmlformats.org/officeDocument/2006/relationships/slideLayout" Target="/ppt/slideLayouts/slideLayout1.xml" Id="Rd3de63e53f3f46cb" /><Relationship Type="http://schemas.openxmlformats.org/officeDocument/2006/relationships/slideLayout" Target="/ppt/slideLayouts/slideLayout2.xml" Id="R1013a149460e49b5" /><Relationship Type="http://schemas.openxmlformats.org/officeDocument/2006/relationships/slideLayout" Target="/ppt/slideLayouts/slideLayout3.xml" Id="Ra51b93603a5c499b" /><Relationship Type="http://schemas.openxmlformats.org/officeDocument/2006/relationships/slideLayout" Target="/ppt/slideLayouts/slideLayout4.xml" Id="Rfe8310612cc740ab" /><Relationship Type="http://schemas.openxmlformats.org/officeDocument/2006/relationships/slideLayout" Target="/ppt/slideLayouts/slideLayout5.xml" Id="Rb7766180d27349fa" /><Relationship Type="http://schemas.openxmlformats.org/officeDocument/2006/relationships/slideLayout" Target="/ppt/slideLayouts/slideLayout6.xml" Id="Re763bdbd2e414f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de63e53f3f46cb"/>
    <p:sldLayoutId xmlns:r="http://schemas.openxmlformats.org/officeDocument/2006/relationships" id="2147483650" r:id="R1013a149460e49b5"/>
    <p:sldLayoutId xmlns:r="http://schemas.openxmlformats.org/officeDocument/2006/relationships" id="2147483651" r:id="Ra51b93603a5c499b"/>
    <p:sldLayoutId xmlns:r="http://schemas.openxmlformats.org/officeDocument/2006/relationships" id="2147483652" r:id="Rfe8310612cc740ab"/>
    <p:sldLayoutId xmlns:r="http://schemas.openxmlformats.org/officeDocument/2006/relationships" id="2147483653" r:id="Rb7766180d27349fa"/>
    <p:sldLayoutId xmlns:r="http://schemas.openxmlformats.org/officeDocument/2006/relationships" id="2147483654" r:id="Re763bdbd2e414f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3ceb44deee42ba" /><Relationship Type="http://schemas.openxmlformats.org/officeDocument/2006/relationships/notesSlide" Target="/ppt/notesSlides/notesSlide1.xml" Id="Rc8e1fcec026246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fd8bb9f6d54817" /><Relationship Type="http://schemas.openxmlformats.org/officeDocument/2006/relationships/image" Target="/ppt/media/image.png" Id="R06ce902ccf47461c" /><Relationship Type="http://schemas.openxmlformats.org/officeDocument/2006/relationships/notesSlide" Target="/ppt/notesSlides/notesSlide2.xml" Id="Rbed616f11a5e41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babe69a8f14a57" /><Relationship Type="http://schemas.openxmlformats.org/officeDocument/2006/relationships/notesSlide" Target="/ppt/notesSlides/notesSlide3.xml" Id="R0d4b4623656a44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ac346355904548" /><Relationship Type="http://schemas.openxmlformats.org/officeDocument/2006/relationships/notesSlide" Target="/ppt/notesSlides/notesSlide4.xml" Id="Rd0f5dc92a6ea46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5f58c8eb2b4ea6" /><Relationship Type="http://schemas.openxmlformats.org/officeDocument/2006/relationships/notesSlide" Target="/ppt/notesSlides/notesSlide5.xml" Id="Rf710cd5a84f246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de542a688b4baa" /><Relationship Type="http://schemas.openxmlformats.org/officeDocument/2006/relationships/notesSlide" Target="/ppt/notesSlides/notesSlide6.xml" Id="Rbac6204ae9404b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434fac29f6474b" /><Relationship Type="http://schemas.openxmlformats.org/officeDocument/2006/relationships/image" Target="/ppt/media/image2.png" Id="R4902214f238849a2" /><Relationship Type="http://schemas.openxmlformats.org/officeDocument/2006/relationships/notesSlide" Target="/ppt/notesSlides/notesSlide7.xml" Id="Rade44f2bcef24c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75f3cd2f584ef0" /><Relationship Type="http://schemas.openxmlformats.org/officeDocument/2006/relationships/notesSlide" Target="/ppt/notesSlides/notesSlide8.xml" Id="R3d6de6c0e56a4c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791fa7dc61439b" /><Relationship Type="http://schemas.openxmlformats.org/officeDocument/2006/relationships/notesSlide" Target="/ppt/notesSlides/notesSlide9.xml" Id="R022c648ebec542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7730242af1434b" /><Relationship Type="http://schemas.openxmlformats.org/officeDocument/2006/relationships/notesSlide" Target="/ppt/notesSlides/notesSlide10.xml" Id="R16ee539c41e341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449CF-4A86-4EE0-9C3B-8DB8FA5B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工作记忆 · 项目进展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154CA-B6DC-4E52-B5BF-57950ED5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85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1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1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1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1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1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1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1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1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1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工作记忆的压缩与解压缩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B3936-91C3-4123-903C-218958AD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序列信息如何紧凑保持，并在需要时逐项恢复？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F5EC3-2C1D-4EA4-96F6-62AB1246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33147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21E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680AC-B38A-4A63-BDE5-397136AF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从前期神经数据线索，到可检验的 E/I 解压缩原型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D6460-6306-46F6-AFF4-A6BA9BFB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机制问题  ·  当前证据  ·  下一步计划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150B1-BEFF-4377-A374-5AECAC45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10 slides  ·  12–15 min</a:t>
            </a:r>
          </a:p>
        </p:txBody>
      </p:sp>
    </p:spTree>
    <p:extLst>
      <p:ext uri="{BB962C8B-B14F-4D97-AF65-F5344CB8AC3E}">
        <p14:creationId xmlns:p14="http://schemas.microsoft.com/office/powerpoint/2010/main" val="12387165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121364-0DF9-43B6-89FB-4A1AD3C2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研究动机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832D4-851A-40E6-8943-2C0AAF4B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为什么需要压缩？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B83A5-F493-4AD5-BA6A-E92EC2A8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有限工作记忆资源，让“能保持多少”与“能保持多准”成为同一个问题。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020CE-8910-46BC-91B1-EF9046EF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3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3FF49-4195-4748-B4F9-F94E60D9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工作记忆压缩与解压缩  ·  机制进展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0F0E6-C6C7-4A46-9871-F36AB62C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02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B1AFA-96D4-4D9A-A6C3-4E9A0E95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逐项保持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94C83-D558-47B5-AC4D-CB09D362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00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8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8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8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8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8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8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8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8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8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结构化表示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631F9-26B9-4B0F-B311-0CB04C37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828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5B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4F394-A6F4-42DB-8C2A-7A7BD4D4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828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5B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C2E0F-89B0-4394-A726-3EC39F30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828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5B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C6B63-F7A2-45CD-8F19-D100A531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28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5B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2CEF7-3009-40B5-8B36-5D7FAD73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828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28C95-C0E8-41CB-AE76-65551E73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828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0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B15F4-563A-42E7-AE0C-C85DD4D9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更多项目分别占用表示资源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3991E2-9222-4235-8BB1-E0ED1686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62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2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2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2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2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2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2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2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2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2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63152B-06F0-403E-A817-E9CA6A27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723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E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组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ACF35-F6B7-4B62-A3DB-884C7365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47950"/>
            <a:ext cx="723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组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5D1818-4967-4B10-8D94-1382E93F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723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rPr>
              <a:t>组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CC5D14-A26B-4C4B-AE23-826C3063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528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可能节省资源；项目细节与区分度仍需检验</a:t>
            </a:r>
          </a:p>
        </p:txBody>
      </p:sp>
      <p:sp>
        <p:nvSpPr>
          <p:cNvPr id="21" name="review-figure-placeholder">
            <a:extLst xmlns:a="http://schemas.openxmlformats.org/drawingml/2006/main">
              <a:ext uri="{FF2B5EF4-FFF2-40B4-BE49-F238E27FC236}">
                <a16:creationId xmlns:a16="http://schemas.microsoft.com/office/drawing/2014/main" id="{956E3959-9F2D-4152-8418-55DEDA28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47850"/>
            <a:ext cx="36195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DFB"/>
          </a:solidFill>
          <a:ln xmlns:a="http://schemas.openxmlformats.org/drawingml/2006/main" w="9525">
            <a:solidFill>
              <a:srgbClr val="D8D4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03288E-C2DE-4C62-9B6E-77F32585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24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Nassar 等 (2018) · Figure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C68749-DD25-478E-A9D8-EB837F2C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66950"/>
            <a:ext cx="32004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30F9F2-A7CD-457B-A5B4-6283371F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3870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8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8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8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8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8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8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8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8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8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核心问题：资源节省是否大于精度损失与干扰？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20B152-72B9-4E70-9DEC-09A6DA1A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486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视觉工作记忆二进制编码模型：仅作“压缩/分组”概念类比，不是本组序列数据。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29ED73-1577-4CE8-B4E8-CD1AECBBFE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e902ccf47461c"/>
          <a:stretch xmlns:a="http://schemas.openxmlformats.org/drawingml/2006/main"/>
        </p:blipFill>
        <p:spPr>
          <a:xfrm xmlns:a="http://schemas.openxmlformats.org/drawingml/2006/main">
            <a:off x="8116082" y="2266950"/>
            <a:ext cx="3008335" cy="2190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2292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CFC22E-FACB-4A15-BA3C-5024311F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任务框架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8C104-F48D-409D-A3A6-A78DF8F4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压缩—存储—解压缩是什么？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B5292-C9EF-419C-A6D5-69D3B325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“压缩”改变表征方式，不等于删除序列项目。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4CD84-153A-450A-A247-76A0A79A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3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CFBEC-7F7B-4B89-BA04-839ADD00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工作记忆压缩与解压缩  ·  机制进展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31AD4-21C3-48DC-8192-5C980B0C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03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B6906-FA06-495D-BB14-9B70B8E8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00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00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00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00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00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00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00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00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00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有序序列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FFF50-8E33-4F45-8C9E-A6424635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285750" cy="3429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7E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56697"/>
          </a:bodyPr>
          <a:lstStyle xmlns:a="http://schemas.openxmlformats.org/drawingml/2006/main">
            <a:defPPr algn="ctr"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29CB7-F3B3-404A-BD5F-71D9450F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285750" cy="3429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56697"/>
          </a:bodyPr>
          <a:lstStyle xmlns:a="http://schemas.openxmlformats.org/drawingml/2006/main">
            <a:defPPr algn="ctr"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9C67A-C947-43F6-A4BC-C537C71A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285750" cy="3429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56697"/>
          </a:bodyPr>
          <a:lstStyle xmlns:a="http://schemas.openxmlformats.org/drawingml/2006/main">
            <a:defPPr algn="ctr"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46C13-3F8E-47CA-8BE1-13C920E8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57450"/>
            <a:ext cx="285750" cy="3429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56697"/>
          </a:bodyPr>
          <a:lstStyle xmlns:a="http://schemas.openxmlformats.org/drawingml/2006/main">
            <a:defPPr algn="ctr"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C035E-5CC9-4EA3-9650-A29F74FB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57450"/>
            <a:ext cx="285750" cy="3429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56697"/>
          </a:bodyPr>
          <a:lstStyle xmlns:a="http://schemas.openxmlformats.org/drawingml/2006/main">
            <a:defPPr algn="ctr"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57BC5-171B-4135-90C1-1BD98AFC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1935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884FF-C782-43C8-B93E-D56D8406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86000"/>
            <a:ext cx="1657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E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6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6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6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6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6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6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6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6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6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紧凑规则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66A74-F8D8-4B08-B8C8-1B86C1DC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099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L · D · 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A1D0F8-DB53-46D5-915C-08363B3C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1935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delay-window">
            <a:extLst xmlns:a="http://schemas.openxmlformats.org/drawingml/2006/main">
              <a:ext uri="{FF2B5EF4-FFF2-40B4-BE49-F238E27FC236}">
                <a16:creationId xmlns:a16="http://schemas.microsoft.com/office/drawing/2014/main" id="{C65DFA98-1C8F-402D-9F83-FDC877FA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05050"/>
            <a:ext cx="2286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E5E1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59BF60-E9CC-4FE7-A9E6-1D16AAC7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812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延迟保持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A3AE30-4FEB-4DD1-8A29-AB26F4B3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67050"/>
            <a:ext cx="17145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5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E0CEDE-6AE5-4AFB-B8CF-1EEAF185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28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5B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73D23-0B2E-46B7-B9CB-2A057A7E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5B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0290A-96E2-477B-820F-83846A48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28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5B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BCCA43-D796-4F25-B88A-961447DA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1E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269490-9D5A-4BEB-909A-28C366CD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1935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F85C27-F8B1-40B5-A72A-65687D48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43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00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00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00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00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00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00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00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00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00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请求信号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5EB5FB-4FF1-46E4-82D7-2B26079F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241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6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6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6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6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6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6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6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6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6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逐项恢复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9DB1A9-C87A-43F3-A88F-F9788544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361950" cy="4191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B21E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94675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C293CA-B8B1-48EB-8307-C82712D5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81300"/>
            <a:ext cx="361950" cy="4191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4E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94675"/>
          </a:bodyPr>
          <a:lstStyle xmlns:a="http://schemas.openxmlformats.org/drawingml/2006/main">
            <a:defPPr algn="ctr"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645745-F819-45FB-ACE7-CB239A28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81300"/>
            <a:ext cx="361950" cy="4191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4E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94675"/>
          </a:bodyPr>
          <a:lstStyle xmlns:a="http://schemas.openxmlformats.org/drawingml/2006/main">
            <a:defPPr algn="ctr"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1C2E36-0B9B-4737-ABF7-05AF9500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81300"/>
            <a:ext cx="361950" cy="4191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4E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94675"/>
          </a:bodyPr>
          <a:lstStyle xmlns:a="http://schemas.openxmlformats.org/drawingml/2006/main">
            <a:defPPr algn="ctr"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1C9DE7-90EA-4E54-B31B-351926B2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9105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同一序列内容，沿任务时间逐步展开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08E97B-717F-4FA6-B783-18BA2A8E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172075"/>
            <a:ext cx="752475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E3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38B880-311A-4EC2-860B-F698E580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768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3F3B76-1B73-4471-84D5-4E7F0686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2768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保持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8F7632-086A-4600-8BAC-11B16FDA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76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按需读出</a:t>
            </a:r>
          </a:p>
        </p:txBody>
      </p:sp>
    </p:spTree>
    <p:extLst>
      <p:ext uri="{BB962C8B-B14F-4D97-AF65-F5344CB8AC3E}">
        <p14:creationId xmlns:p14="http://schemas.microsoft.com/office/powerpoint/2010/main" val="11837990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E50F9B-C759-4B09-92E4-98B803F0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研究目标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2F553-E1D6-42FE-88DE-1ED209C2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项目要回答的两类科学问题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989C4-C0A9-4E7E-8262-F4A1C334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研究目标与已经获得的结论分开呈现。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B15D6-5218-47BB-8CED-259E962A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3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B4A90-5DAD-492A-B500-6A359D4B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工作记忆压缩与解压缩  ·  机制进展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B5C85-C9A5-41E0-90CF-1B47B58D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04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58CBB-B2BB-4906-919D-84141E26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1905" cy="3409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3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2DF7B-9CF3-47A9-905D-B98DB213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WHAT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16245-6E2B-44A1-A31E-9954223D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神经表征怎样变化？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17038-A6DD-477C-A4E1-73E2DD78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输入 → 压缩保持 → 逐项读出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B1F46-D1AC-4F51-9FDB-A1E4CAD2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83820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5B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F3BEF5-83B1-4466-8899-C6B40F30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00500"/>
            <a:ext cx="83820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5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B21B3F-05D1-4E50-AA0C-80DEADD1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81400"/>
            <a:ext cx="83820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21E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BD653-58F8-44F0-8389-18C7AFF9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81400"/>
            <a:ext cx="8382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21E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92D21E-C8CD-4502-BF5E-542C9570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24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5B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8D0AF9-D57F-4481-8B1D-D16C6A5D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24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5B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59E4F4-895D-41BE-A6F3-F4B9A685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95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1E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7BE39F-DB97-4E71-97F8-A5D8B822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05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1E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E06DCE-B129-4690-9955-6435CF69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95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1E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6ACE9C-EEDB-456B-B7A7-5A6F5D2B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群体状态轨迹（概念示意）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4DD44B-604A-4B3C-8A0E-F98F2C8F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WHY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C3A749-FB2B-440F-AE9C-52745B1E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03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压缩在何种条件下有计算优势？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4A3D3A-D012-4E57-AE0C-71F94F1E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99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表征精度  ↔  资源成本  ↔  项目干扰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F1BF5F-657D-46E0-BD29-CB11A7FF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838700"/>
            <a:ext cx="33909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9666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4B4472-8110-4705-ABE7-FBD34AE4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81400"/>
            <a:ext cx="1905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9666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4FEB84-0132-43DC-B165-1F6B4B17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2900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精度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942A5A-196F-47F5-8764-AB6C1650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14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资源 / 计算成本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1D5C94-11BE-46F9-A863-5FE427B4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6240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待由数据与模型比较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3C758E-C5CC-4F8D-B291-C26127FA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67200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不预设权衡曲线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8C54C5-4525-4DDF-93DB-86CEFCE1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00700"/>
            <a:ext cx="727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机制复现与计算解释是两条互相约束的研究线</a:t>
            </a:r>
          </a:p>
        </p:txBody>
      </p:sp>
    </p:spTree>
    <p:extLst>
      <p:ext uri="{BB962C8B-B14F-4D97-AF65-F5344CB8AC3E}">
        <p14:creationId xmlns:p14="http://schemas.microsoft.com/office/powerpoint/2010/main" val="20917689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58FB74-0C8D-414B-ACA6-D4867702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研究路线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6166C-6D07-4BB4-8C6E-5406B352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完整研究路线：让数据、模型与理论闭环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80584-63A8-4E89-9737-AFF2F4E5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申请书中的总体目标覆盖真实神经数据、模型比较与计算原理分析。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B3EFB-4679-465C-95FE-0CC961FC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3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2BBC9-780C-4522-87C6-FDC541CA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工作记忆压缩与解压缩  ·  机制进展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57C5E-8969-4B38-891F-41D7799C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05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49923-868F-4DD3-AF2C-30650F80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1676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7E8E8"/>
          </a:solidFill>
          <a:ln xmlns:a="http://schemas.openxmlformats.org/drawingml/2006/main" w="9525">
            <a:solidFill>
              <a:srgbClr val="E7E3DB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4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4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4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4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4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4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4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4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4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真实神经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286B1-57BE-4960-B5D0-E2C4CBE5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002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78469-7F21-4954-9661-079D6746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1676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3DB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动力学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特征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4C0E5-F75F-4E08-8CAA-5DBFA538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002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4989DF-F16F-4503-8026-9AC7D228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66900"/>
            <a:ext cx="1676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3DB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生物启发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7B5BA-B066-456C-9AB3-08F48C4B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002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D6FA9-E8AF-4C27-931A-B5F54937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676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3DB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行为与轨迹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E2B0CA-3266-4F80-AFED-A7A501B5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002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02C7B2-F58A-4A42-A64F-1DE80C80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66900"/>
            <a:ext cx="1676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3DB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信息论 /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最优性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6F228-958C-4244-9815-62E0F1F2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670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计划目标</a:t>
            </a:r>
          </a:p>
        </p:txBody>
      </p:sp>
      <p:sp>
        <p:nvSpPr>
          <p:cNvPr id="17" name="lab-data-figure-placeholder">
            <a:extLst xmlns:a="http://schemas.openxmlformats.org/drawingml/2006/main">
              <a:ext uri="{FF2B5EF4-FFF2-40B4-BE49-F238E27FC236}">
                <a16:creationId xmlns:a16="http://schemas.microsoft.com/office/drawing/2014/main" id="{A87ABEC2-B0D9-43C6-9EDC-12AE2CFE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04775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DFB"/>
          </a:solidFill>
          <a:ln xmlns:a="http://schemas.openxmlformats.org/drawingml/2006/main" w="9525">
            <a:solidFill>
              <a:srgbClr val="C9C5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C4322E-C755-4B26-96B7-0E3D03DD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本组前期实验数据图位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54781B-BAA5-4855-A31E-16A3EAFC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99822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D090B6-215C-43C3-AAE1-57210740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531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拟插入：任务范式 / 神经活动 / 群体轨迹中的一至两幅本组原始图</a:t>
            </a:r>
          </a:p>
        </p:txBody>
      </p:sp>
    </p:spTree>
    <p:extLst>
      <p:ext uri="{BB962C8B-B14F-4D97-AF65-F5344CB8AC3E}">
        <p14:creationId xmlns:p14="http://schemas.microsoft.com/office/powerpoint/2010/main" val="737521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4C1585-EAE8-4CED-9ACE-4C4CCFB6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项目进展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C1D97-9F05-4C00-AA22-F0A36874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目前实际完成到哪一步？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FC574-C433-4C7C-AA05-B1F6385E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项目整体进展与当前仓库可复核的 E/I 原型分层说明。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A9163-3072-41D4-95AD-DE4F79A6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3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73409-FD93-4EF4-9F1D-7F373742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工作记忆压缩与解压缩  ·  机制进展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F5E56-83EC-4478-94E4-896A3762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06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5BB24-2CE3-4864-B56C-2D190679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1943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EEE9"/>
          </a:solidFill>
          <a:ln xmlns:a="http://schemas.openxmlformats.org/drawingml/2006/main" w="9525">
            <a:solidFill>
              <a:srgbClr val="E4E0D8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rPr>
              <a:t>真实神经数据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4222F-EDA8-470C-A242-F52B5B98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269C5-90C6-4262-A2B7-F7946842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71650"/>
            <a:ext cx="1943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EEE9"/>
          </a:solidFill>
          <a:ln xmlns:a="http://schemas.openxmlformats.org/drawingml/2006/main" w="9525">
            <a:solidFill>
              <a:srgbClr val="E4E0D8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rPr>
              <a:t>动力学特征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A5AF0-518C-498F-8940-29D9BE91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09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18542-8685-4A99-B252-B59A485E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71650"/>
            <a:ext cx="1943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EEE9"/>
          </a:solidFill>
          <a:ln xmlns:a="http://schemas.openxmlformats.org/drawingml/2006/main" w="9525">
            <a:solidFill>
              <a:srgbClr val="E4E0D8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rPr>
              <a:t>机制模型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ABF78A-022F-464F-8E6D-ECFEEEEC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09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7C3B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A09CE-09AA-4AE5-9EA2-7F177A77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71650"/>
            <a:ext cx="1943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EEE9"/>
          </a:solidFill>
          <a:ln xmlns:a="http://schemas.openxmlformats.org/drawingml/2006/main" w="9525">
            <a:solidFill>
              <a:srgbClr val="E4E0D8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9B5AD"/>
                </a:solidFill>
                <a:latin typeface="Microsoft YaHei"/>
                <a:ea typeface="Microsoft YaHei"/>
                <a:cs typeface="Microsoft YaHei"/>
              </a:rPr>
              <a:t>全流程数据拟合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5E43E-319D-4970-B4E0-1EC5B2B8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已完成（按项目提纲）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806FE-2E0E-41BA-BD32-2E8F96E5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Low-rank RNN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9881EF-65FB-4F31-9D29-7BD9349C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具备压缩表征能力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04D056-E020-411B-A4A1-3A3DA1D1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333375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3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994750-DBC1-441D-8378-5FD1CCE6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已完成（仓库主线）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0F14A8-405C-4376-B785-1F4C903C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固定 E/I 解压缩原型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4AD851-8D00-49FF-9087-D8CD01FB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从给定 L / D / S 开始；不训练、不拟合真实数据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C1FAD6-C86A-450D-8426-D80DCBA2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6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尚未完成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18E388-C024-4DED-BF2D-694A0DB7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38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全流程数据拟合</a:t>
            </a:r>
          </a:p>
        </p:txBody>
      </p:sp>
      <p:sp>
        <p:nvSpPr>
          <p:cNvPr id="23" name="advisor-mechanism-figure-placeholder">
            <a:extLst xmlns:a="http://schemas.openxmlformats.org/drawingml/2006/main">
              <a:ext uri="{FF2B5EF4-FFF2-40B4-BE49-F238E27FC236}">
                <a16:creationId xmlns:a16="http://schemas.microsoft.com/office/drawing/2014/main" id="{AC1C8B0C-BEA7-4734-9049-81D2ABB4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52700"/>
            <a:ext cx="59817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DFB"/>
          </a:solidFill>
          <a:ln xmlns:a="http://schemas.openxmlformats.org/drawingml/2006/main" w="9525">
            <a:solidFill>
              <a:srgbClr val="C9C5B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871525-5AF2-4B06-8C0B-13BD298B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860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导师绘制的 E/I 机制图位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7D2048-9D59-4EDD-9492-F560AB1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48000"/>
            <a:ext cx="54864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067647-6A5E-4BB8-B475-9194704F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7721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当前模块是解压缩阶段的工程原型</a:t>
            </a:r>
          </a:p>
        </p:txBody>
      </p:sp>
    </p:spTree>
    <p:extLst>
      <p:ext uri="{BB962C8B-B14F-4D97-AF65-F5344CB8AC3E}">
        <p14:creationId xmlns:p14="http://schemas.microsoft.com/office/powerpoint/2010/main" val="17026473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79EAEE-53B1-4C1F-B93D-6A8534D2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当前原型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CB3CF-CD76-4D1C-AC65-7137E8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原型的核心机制：记忆、去抑制与状态继承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45B48-47EC-45CB-9C07-24E84100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规则给定后，固定 E/I 动力学依次传递位置内容并打开对应通路。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AAAC5-3981-47AF-9031-4E79FFA7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3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2EF6E-79F4-437A-9A49-9C43CDB2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工作记忆压缩与解压缩  ·  机制进展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23B76-9EA1-4560-A251-F53C4D6E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07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B54C0-5552-4E48-BAA4-ED5204C9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六位置例子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F65C3-9256-4CB8-A802-48E7B1AB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1E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EF121-D823-4EAE-8779-247CD5FE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164" y="2409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1E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EF786-6906-4CE2-A2BB-D0A28815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164" y="33623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6C500-06D4-4331-BBAC-B1BC1160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838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1E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531C4-4C83-4BCF-B2F7-96AD8198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386" y="33623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1E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D37D4-69F5-4ABD-B4D7-4A6DB9DA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386" y="2409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660C7-FA13-4047-BA9A-C456598C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L=0 · D=+1 · S=2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FFE33-25AD-49A3-AC62-B2860712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R₁ → R₂ → R₃ → R₄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F6B23-6FC3-4B85-8B59-9EB01D3A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0 → 1 → 3 → 4  (mod 6)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120DD7-AC20-47B2-A7B1-66265DF4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676400"/>
            <a:ext cx="3562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文献机制图的概念重绘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18D12-9C74-468D-8FD5-99F9FB04E9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2214f238849a2"/>
          <a:stretch xmlns:a="http://schemas.openxmlformats.org/drawingml/2006/main"/>
        </p:blipFill>
        <p:spPr>
          <a:xfrm xmlns:a="http://schemas.openxmlformats.org/drawingml/2006/main">
            <a:off x="3986213" y="2000250"/>
            <a:ext cx="2943225" cy="19621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DB04A2-47EF-4E16-B1AD-194BC132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000500"/>
            <a:ext cx="3371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VIP ┤ SOM ┤ 树突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3316DC-722E-49A2-AD41-04777713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57675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Yang, Murray &amp; Wang, 2016 · Fig.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2569B4-F671-4845-BAB6-0CE8E242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764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本项目抽象 E/I 门控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31E9C9-0060-4EE0-93AC-35BCE844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14550"/>
            <a:ext cx="15621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E7E3DB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86755"/>
          </a:bodyPr>
          <a:lstStyle xmlns:a="http://schemas.openxmlformats.org/drawingml/2006/main">
            <a:defPPr algn="ctr"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M_D / M_S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+ 阶段时钟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AC682A-42D7-4F6B-9724-B3E68243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907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1DAEE6-4DEE-4243-9874-F8B69003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14550"/>
            <a:ext cx="114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4EFEB"/>
          </a:solidFill>
          <a:ln xmlns:a="http://schemas.openxmlformats.org/drawingml/2006/main" w="9525">
            <a:solidFill>
              <a:srgbClr val="CFE0DB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rPr>
              <a:t>I_release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0FD7F5-767B-4997-B58D-8AE377BD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209800"/>
            <a:ext cx="33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B30AA3-BAE8-4549-A819-BBC8F479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114550"/>
            <a:ext cx="876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E8E8"/>
          </a:solidFill>
          <a:ln xmlns:a="http://schemas.openxmlformats.org/drawingml/2006/main" w="9525">
            <a:solidFill>
              <a:srgbClr val="E6C4C2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I_gate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08D4D6-71D6-420B-82F5-8DD49FE6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9560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E_source  →  E_target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8D5B95-57BB-4C5F-9E38-852A15DB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0040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I_gate  ⊣  E_target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146858-098F-469D-829C-D7621A11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76650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内容沿固定连接传播；control 不携带位置答案</a:t>
            </a:r>
          </a:p>
        </p:txBody>
      </p:sp>
      <p:sp>
        <p:nvSpPr>
          <p:cNvPr id="30" name="rate-equation-strip">
            <a:extLst xmlns:a="http://schemas.openxmlformats.org/drawingml/2006/main">
              <a:ext uri="{FF2B5EF4-FFF2-40B4-BE49-F238E27FC236}">
                <a16:creationId xmlns:a16="http://schemas.microsoft.com/office/drawing/2014/main" id="{BF94D117-13BA-483E-9D4B-93BE840E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0725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E3DF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86961E-352A-4EDD-81E2-235F341D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R₁ = L;  R₂ = L + D;  R₃ = L + D + DS;  R₄ = L + 2D + DS  (mod 6)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B3CE7D-E3D0-438A-968D-308DCD04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34025"/>
            <a:ext cx="1036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τᵢ drᵢ/dt = −rᵢ + φ( ΣE Wᵢⱼrⱼ − ΣI Wᵢⱼrⱼ + Iᵢ − θᵢ 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6FA070-0372-4A86-8334-EDE7AF3F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归一化放电率 r∈[0,1]；输入、阈值与泄漏时间常数影响活动（不是膜电位模型）</a:t>
            </a:r>
          </a:p>
        </p:txBody>
      </p:sp>
    </p:spTree>
    <p:extLst>
      <p:ext uri="{BB962C8B-B14F-4D97-AF65-F5344CB8AC3E}">
        <p14:creationId xmlns:p14="http://schemas.microsoft.com/office/powerpoint/2010/main" val="20716849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1B82CA-7831-4F8A-AC6E-054FEE32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E/I 原型行为验收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17EF9-4160-4690-ACD1-C02E6F72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目前已验证什么？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FB61D-D1FF-4F74-A385-AB0F2A81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行为门槛只说明给定 L / D / S 后，固定网络能否逐次展开当前任务。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4209C-3035-4C41-B3F9-F62521F5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3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6F0CD-DC53-41E3-B890-AB50435A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工作记忆压缩与解压缩  ·  机制进展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5D5B9-412D-4E5B-9499-49F6E3FA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08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08050-3B79-4135-B6E3-7919D0B3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190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E8E8"/>
          </a:solidFill>
          <a:ln xmlns:a="http://schemas.openxmlformats.org/drawingml/2006/main" w="9525">
            <a:solidFill>
              <a:srgbClr val="E7E3DB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R1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306DA-7CED-43D3-A7DA-822BEF32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24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2E383-677F-4F38-BA79-2511361A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阶段读出正确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A172E-7C50-4D43-AFE4-4DDB928B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76450"/>
            <a:ext cx="53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783C9-AA13-4BD2-823D-A116246A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2190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3DB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R2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2D4FC-9BFE-4999-A209-DCD60B2B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194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24 / 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70AD1-2487-45B6-A880-E4BE9D42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33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阶段读出正确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9E379-9FD4-4C6D-A578-7D2BDE52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76450"/>
            <a:ext cx="53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8A2B6-E933-4DFA-92DA-92799842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2190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3DB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R3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34536-FC3C-459F-916F-B5BB5251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24 / 24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47D710-1DF8-45FC-A720-E28F2DDA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阶段读出正确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B87E9A-F6C4-4172-B4B6-B7C5E0B3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76450"/>
            <a:ext cx="53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E1905C-F573-45F8-B66A-EE44F042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38350"/>
            <a:ext cx="2190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3DB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R4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F4866C-AE27-4E3A-97B1-A8BEE17D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194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24 / 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504669-FC7A-46F6-B72F-215181CE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阶段读出正确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54A1E7-42BB-4533-8D8E-32F94DA3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102108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3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789F92-32CD-49C3-A258-5E680DD2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16 / 16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86C987-4FDA-46EB-A5C0-FE5DF2C2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单元测试通过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073EF7-010C-4A05-9BD0-FA5DD010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910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39 项实验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848754-3753-41A6-A2AD-78616C91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67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936 个 trial 轨迹复算 PASS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25E6C8-F9B2-4CD3-98B0-F0139336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910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固定连接 · 不训练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AFE010-772D-4FE5-827D-335B2C6A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67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给定 L/D/S；没有生理数据拟合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1E086A-3863-41E7-B8B4-330C86A6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86400"/>
            <a:ext cx="731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这是简化解压缩任务的机制可行性证据</a:t>
            </a:r>
          </a:p>
        </p:txBody>
      </p:sp>
    </p:spTree>
    <p:extLst>
      <p:ext uri="{BB962C8B-B14F-4D97-AF65-F5344CB8AC3E}">
        <p14:creationId xmlns:p14="http://schemas.microsoft.com/office/powerpoint/2010/main" val="3138276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3EE67F-07B8-462B-88BA-E26C5AC2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候选解释与证据边界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7ADBF-4AEB-44A9-B8DF-A8242391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为什么大脑可能采取这样的压缩机制？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067EA-95FA-4B04-9E8C-6D9FCD74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比较不同机制如何权衡资源复用、位置区分与干扰；现有证据不能提前宣布胜者。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14BCA-9E7F-4229-AFFA-EF866FCA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3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E8086-9B70-44F7-A6CF-47B72B81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工作记忆压缩与解压缩  ·  机制进展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F64DF-08A6-42D4-A875-ACECF194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09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F7FC2-BE94-4D1C-B3C8-F1B43B8B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A｜专属群体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DB818-053A-4056-BB0A-8D74A82A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95525"/>
            <a:ext cx="3181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固定子空间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CF3F8-4DE4-4769-B06B-5C5CD868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431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B｜重叠表征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DDA85E-3DD8-4C8C-B7E2-CA513173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95525"/>
            <a:ext cx="3181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部分共享 + 区分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44606-37DF-49E7-8E23-9133190F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431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C｜去抑制路由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8F83F-66A5-4FA8-9E92-9B16917C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95525"/>
            <a:ext cx="3181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控制信号改变通路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48EE2-E51A-4501-9FE8-DF2FC2D1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00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1E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7DA58-6B72-4ACF-916C-27593C67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000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1E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D1FE03-E910-48CB-AD3B-FC6C724D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000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1E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FC9BA-1AFA-4763-8491-DAFA14BE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000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1E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178280-A067-4FAC-8EDB-15683AEF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29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666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2FF87-2FAE-4DA4-976F-0DFCF81D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429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666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4D3AFC-96FE-4E2E-84A3-36E06B3B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429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666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893156-5D50-4B00-A800-8436AC65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429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666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B9FB6B-4D3B-4506-9668-ADA460E1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5B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C88368-1D87-4468-9DE4-DD448A23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857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5B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15F15D-56D2-4D1F-BB52-97FEDCBB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57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5B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4AA748-7ABD-4BFA-A036-92AADDD6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857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5B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70CACB-6BF4-4F90-BDB6-46B37E18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区分清晰；资源需求可能随任务增长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A96EA9-5211-41CF-8D45-7332202C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00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AA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33E35E-C525-40CB-AD90-30EA8C04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000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1E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65442C-C84F-445A-B499-8FC20191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000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1E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356A3B-BE2C-44FA-B287-69ECC5E6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00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AA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B89FD7-8EA4-4361-9DDE-7A5CB604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429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6B79A6-2694-4A46-A7B3-3181BE5F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429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1E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5E23A0-9881-423F-BB3C-2F431950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429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1E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885E56-F271-4AE2-80AE-FFDADEFF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29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047442-C18F-4004-AE79-BD1DC3CE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857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848A08-704C-4E16-A32E-7E212ABB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857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8F0EC1-C4DF-4217-AA2E-D2301A15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857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90EEC8-0149-448C-9D37-45082E10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57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750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0DF877-7C9C-4CAD-8075-157624C3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863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部分神经元跨阶段/长度复用，仍需保持序列内可分性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38DAEE-23B6-4E6D-BC6D-4303D0E1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781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8A43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90175"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68AE78-12FD-44F5-BDCF-9CED4ACA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051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A32FA0-9BB8-4302-912F-0C21ACA7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28950"/>
            <a:ext cx="819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4EF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050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050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050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050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050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050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050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050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050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E8278"/>
                </a:solidFill>
                <a:latin typeface="Microsoft YaHei"/>
                <a:ea typeface="Microsoft YaHei"/>
                <a:cs typeface="Microsoft YaHei"/>
              </a:rPr>
              <a:t>I_release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1FA7DA-7C8B-462D-B34F-FBDCCDAB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1051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00" b="0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00" b="0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00" b="0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00" b="0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00" b="0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00" b="0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00" b="0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00" b="0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00" b="0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⊣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E0A735-E722-4534-B48E-C16F59AB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028950"/>
            <a:ext cx="7048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7E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I_gate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4D8A88-57DB-47D1-B915-D9DE770E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1051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568838-9FD5-476F-B5CC-CCE1FC84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目标通路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D15F2E-4921-4557-96AA-4581905D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863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资源复用可能提升效率；路由失灵会否导致阶段错误，仍待检验。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D30C45-827C-4B21-B4B2-899158EE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90700"/>
            <a:ext cx="1905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3D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F90154-B291-4960-87B6-66810119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90700"/>
            <a:ext cx="1905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3DB"/>
            </a:solidFill>
            <a:prstDash val="solid"/>
          </a:ln>
        </p:spPr>
      </p:sp>
      <p:sp>
        <p:nvSpPr>
          <p:cNvPr id="49" name="evidence-boundary">
            <a:extLst xmlns:a="http://schemas.openxmlformats.org/drawingml/2006/main">
              <a:ext uri="{FF2B5EF4-FFF2-40B4-BE49-F238E27FC236}">
                <a16:creationId xmlns:a16="http://schemas.microsoft.com/office/drawing/2014/main" id="{92B83C86-06D6-4D10-A3C4-BC7BF935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0200"/>
            <a:ext cx="9448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E5E1D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67581F-92CC-43B9-8FE6-8D7043F2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86400"/>
            <a:ext cx="906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前期/文献线索：重叠与混合表征｜文献机制：去抑制候选门控｜尚未证明两者构成因果路由</a:t>
            </a:r>
          </a:p>
        </p:txBody>
      </p:sp>
    </p:spTree>
    <p:extLst>
      <p:ext uri="{BB962C8B-B14F-4D97-AF65-F5344CB8AC3E}">
        <p14:creationId xmlns:p14="http://schemas.microsoft.com/office/powerpoint/2010/main" val="9300023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4B9F53-9B17-4B8D-B92F-E36FF209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后续路线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F0FA6-BA0B-46E0-A727-872FA29D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下一步：从可检验原型走向项目总目标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817EA-908F-4616-A914-C5634715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每阶段都要产出能够区分候选解释的结果。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8FEF6-BA4D-4D16-8781-29E9A491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3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943D9-C3B0-4E59-A803-6F74089D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工作记忆压缩与解压缩  ·  机制进展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827BF-AE7D-4F8B-9090-EC7385F3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10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383B7-6DC7-4BAB-8627-0756DED5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5905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E8E8"/>
          </a:solidFill>
          <a:ln xmlns:a="http://schemas.openxmlformats.org/drawingml/2006/main" w="9525">
            <a:solidFill>
              <a:srgbClr val="E9C4C2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49417"/>
          </a:bodyPr>
          <a:lstStyle xmlns:a="http://schemas.openxmlformats.org/drawingml/2006/main">
            <a:defPPr algn="ctr"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当前已完成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E7DAE-C7B7-4867-B69A-1AE9C161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419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给定规则的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E/I 解压缩原型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CBA78A-44A1-44DF-99DB-90A26EAB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21E35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F9D1E-3FDA-49D8-B6D9-1825EDF1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908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B7884-284A-4E99-A426-B96945F1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5905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3DB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62854"/>
          </a:bodyPr>
          <a:lstStyle xmlns:a="http://schemas.openxmlformats.org/drawingml/2006/main">
            <a:defPPr algn="ctr"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DB3E5-AFCA-484D-9CB5-0D1A3B91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57500"/>
            <a:ext cx="2419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刻画真实数据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压缩与恢复轨迹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FB771-3CE2-482B-9163-25762A5C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48100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B9BAC5-7344-4C0F-8D01-629C6A3D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908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E29038-1550-47F1-8EDB-96C84A65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5905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3DB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62854"/>
          </a:bodyPr>
          <a:lstStyle xmlns:a="http://schemas.openxmlformats.org/drawingml/2006/main">
            <a:defPPr algn="ctr"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BFCC4-B8A7-4CC0-B641-7BD54FDB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57500"/>
            <a:ext cx="2419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约束并比较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候选机制模型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8C123C-ACC4-4707-B451-8B7E68A0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48100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后续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D10D4-1DB7-4402-A159-0368A37A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908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70CFE1-2221-42C7-B9F1-EDCC52BD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43150"/>
            <a:ext cx="5905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3DB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62854"/>
          </a:bodyPr>
          <a:lstStyle xmlns:a="http://schemas.openxmlformats.org/drawingml/2006/main">
            <a:defPPr algn="ctr"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8F940F-0C9E-40B8-A3D7-754B3CA5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419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分析精度与成本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信息论 / 最优性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66D626-FC93-4682-BE92-534276BF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48100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96660"/>
                </a:solidFill>
                <a:latin typeface="Microsoft YaHei"/>
                <a:ea typeface="Microsoft YaHei"/>
                <a:cs typeface="Microsoft YaHei"/>
              </a:rPr>
              <a:t>研究目标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176FC9-56A2-43C7-BEE0-0D095A80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9925050" cy="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E3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3709D8-06FC-4414-B35A-C5FC5610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577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真实数据刻画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545D37-0A67-45CC-91B7-97B6ACF4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577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模型对照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6FE01B-F863-4156-99D3-51D43772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577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7746E"/>
                </a:solidFill>
                <a:latin typeface="Microsoft YaHei"/>
                <a:ea typeface="Microsoft YaHei"/>
                <a:cs typeface="Microsoft YaHei"/>
              </a:rPr>
              <a:t>计算权衡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3B864A-3458-4949-A1DF-E529305E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486400"/>
            <a:ext cx="788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82725"/>
                </a:solidFill>
                <a:latin typeface="Microsoft YaHei"/>
                <a:ea typeface="Microsoft YaHei"/>
                <a:cs typeface="Microsoft YaHei"/>
              </a:rPr>
              <a:t>训练与全链路拟合尚未完成；进入前需另立规格与验收标准。</a:t>
            </a:r>
          </a:p>
        </p:txBody>
      </p:sp>
    </p:spTree>
    <p:extLst>
      <p:ext uri="{BB962C8B-B14F-4D97-AF65-F5344CB8AC3E}">
        <p14:creationId xmlns:p14="http://schemas.microsoft.com/office/powerpoint/2010/main" val="21438284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2026-10-25T16:14:19.5920000Z</dcterms:created>
  <dcterms:modified xsi:type="dcterms:W3CDTF">2026-10-25T16:14:19.5920000Z</dcterms:modified>
</coreProperties>
</file>